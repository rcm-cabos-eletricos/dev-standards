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b46424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85b46424e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5b46424e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85b46424e5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11c0013e7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11c0013e7e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a4e6a9b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7a4e6a9bc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5294e2e5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5294e2e5f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a4e6a9bc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7a4e6a9bc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5294e2e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5294e2e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5294e2e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5294e2e5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5294e2e5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5294e2e5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5294e2e5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5294e2e5f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45a549d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245a549d1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a4e6a9b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a4e6a9bc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5294e2e5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5294e2e5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5c486834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e5c4868340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3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82" name="Google Shape;82;p1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3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rtl="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rtl="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php-fig.org/psr/" TargetMode="External"/><Relationship Id="rId4" Type="http://schemas.openxmlformats.org/officeDocument/2006/relationships/hyperlink" Target="https://github.com/airbnb/javascript" TargetMode="External"/><Relationship Id="rId5" Type="http://schemas.openxmlformats.org/officeDocument/2006/relationships/hyperlink" Target="https://google.github.io/styleguide/htmlcssguide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804" y="-549035"/>
            <a:ext cx="3250721" cy="325072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>
            <p:ph type="ctrTitle"/>
          </p:nvPr>
        </p:nvSpPr>
        <p:spPr>
          <a:xfrm>
            <a:off x="1423975" y="2098675"/>
            <a:ext cx="9344100" cy="26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b="1" lang="pt-BR" sz="6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Padrões de estilo de programação e </a:t>
            </a:r>
            <a:endParaRPr b="1" sz="6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b="1" lang="pt-BR" sz="6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boas práticas</a:t>
            </a:r>
            <a:endParaRPr b="1" sz="6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371600" y="5791199"/>
            <a:ext cx="9144000" cy="4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b="0" i="0" lang="pt-BR" sz="2400" u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Rafael Cecchin</a:t>
            </a:r>
            <a:endParaRPr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4294967295" type="title"/>
          </p:nvPr>
        </p:nvSpPr>
        <p:spPr>
          <a:xfrm>
            <a:off x="687800" y="525000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 que um padrão é importante?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5" title="1-5b35f79c.png"/>
          <p:cNvPicPr preferRelativeResize="0"/>
          <p:nvPr/>
        </p:nvPicPr>
        <p:blipFill rotWithShape="1">
          <a:blip r:embed="rId3">
            <a:alphaModFix/>
          </a:blip>
          <a:srcRect b="8152" l="12694" r="0" t="13679"/>
          <a:stretch/>
        </p:blipFill>
        <p:spPr>
          <a:xfrm rot="10800000">
            <a:off x="995913" y="2714725"/>
            <a:ext cx="4198624" cy="375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idx="4294967295" type="body"/>
          </p:nvPr>
        </p:nvSpPr>
        <p:spPr>
          <a:xfrm>
            <a:off x="6018050" y="2090875"/>
            <a:ext cx="5485800" cy="102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Cabo Potência HEPR 90°C 1kV 4 x 2,5mm²</a:t>
            </a:r>
            <a:endParaRPr b="1"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1" name="Google Shape;101;p15"/>
          <p:cNvGrpSpPr/>
          <p:nvPr/>
        </p:nvGrpSpPr>
        <p:grpSpPr>
          <a:xfrm>
            <a:off x="5329900" y="3714513"/>
            <a:ext cx="6862100" cy="1928825"/>
            <a:chOff x="5329900" y="3189750"/>
            <a:chExt cx="6862100" cy="1928825"/>
          </a:xfrm>
        </p:grpSpPr>
        <p:pic>
          <p:nvPicPr>
            <p:cNvPr id="102" name="Google Shape;102;p15" title="031606428560.png"/>
            <p:cNvPicPr preferRelativeResize="0"/>
            <p:nvPr/>
          </p:nvPicPr>
          <p:blipFill rotWithShape="1">
            <a:blip r:embed="rId4">
              <a:alphaModFix/>
            </a:blip>
            <a:srcRect b="40260" l="0" r="0" t="30417"/>
            <a:stretch/>
          </p:blipFill>
          <p:spPr>
            <a:xfrm flipH="1">
              <a:off x="5329900" y="3189750"/>
              <a:ext cx="6862100" cy="192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 rotWithShape="1">
            <a:blip r:embed="rId5">
              <a:alphaModFix/>
            </a:blip>
            <a:srcRect b="35860" l="7817" r="6279" t="38456"/>
            <a:stretch/>
          </p:blipFill>
          <p:spPr>
            <a:xfrm>
              <a:off x="8922950" y="3921400"/>
              <a:ext cx="1463025" cy="437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5"/>
          <p:cNvSpPr txBox="1"/>
          <p:nvPr>
            <p:ph idx="4294967295" type="body"/>
          </p:nvPr>
        </p:nvSpPr>
        <p:spPr>
          <a:xfrm>
            <a:off x="352325" y="2090875"/>
            <a:ext cx="5485800" cy="102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Cabo De Rede RJ45</a:t>
            </a:r>
            <a:endParaRPr b="1"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idx="4294967295" type="title"/>
          </p:nvPr>
        </p:nvSpPr>
        <p:spPr>
          <a:xfrm>
            <a:off x="687800" y="525000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 que um padrão é importante?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16" title="1-5b35f79c.png"/>
          <p:cNvPicPr preferRelativeResize="0"/>
          <p:nvPr/>
        </p:nvPicPr>
        <p:blipFill rotWithShape="1">
          <a:blip r:embed="rId3">
            <a:alphaModFix/>
          </a:blip>
          <a:srcRect b="8152" l="12694" r="0" t="13679"/>
          <a:stretch/>
        </p:blipFill>
        <p:spPr>
          <a:xfrm rot="10800000">
            <a:off x="8586699" y="1743899"/>
            <a:ext cx="3533351" cy="2426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6"/>
          <p:cNvGrpSpPr/>
          <p:nvPr/>
        </p:nvGrpSpPr>
        <p:grpSpPr>
          <a:xfrm>
            <a:off x="5329900" y="4929163"/>
            <a:ext cx="6862100" cy="1928825"/>
            <a:chOff x="5329900" y="3189750"/>
            <a:chExt cx="6862100" cy="1928825"/>
          </a:xfrm>
        </p:grpSpPr>
        <p:pic>
          <p:nvPicPr>
            <p:cNvPr id="112" name="Google Shape;112;p16" title="031606428560.png"/>
            <p:cNvPicPr preferRelativeResize="0"/>
            <p:nvPr/>
          </p:nvPicPr>
          <p:blipFill rotWithShape="1">
            <a:blip r:embed="rId4">
              <a:alphaModFix/>
            </a:blip>
            <a:srcRect b="40260" l="0" r="0" t="30417"/>
            <a:stretch/>
          </p:blipFill>
          <p:spPr>
            <a:xfrm flipH="1">
              <a:off x="5329900" y="3189750"/>
              <a:ext cx="6862100" cy="192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6"/>
            <p:cNvPicPr preferRelativeResize="0"/>
            <p:nvPr/>
          </p:nvPicPr>
          <p:blipFill rotWithShape="1">
            <a:blip r:embed="rId5">
              <a:alphaModFix/>
            </a:blip>
            <a:srcRect b="35860" l="7817" r="6279" t="38456"/>
            <a:stretch/>
          </p:blipFill>
          <p:spPr>
            <a:xfrm>
              <a:off x="8922950" y="3921400"/>
              <a:ext cx="1463025" cy="437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6"/>
          <p:cNvSpPr txBox="1"/>
          <p:nvPr>
            <p:ph idx="4294967295" type="body"/>
          </p:nvPr>
        </p:nvSpPr>
        <p:spPr>
          <a:xfrm>
            <a:off x="466600" y="2075675"/>
            <a:ext cx="8120100" cy="410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 rápida e segura dos condutores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Segurança elétrica e prevenção de acidentes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Manutenção e diagnóstico facilitados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Comunicação clara entre profissionais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Redução de custos e tempo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4294967295" type="title"/>
          </p:nvPr>
        </p:nvSpPr>
        <p:spPr>
          <a:xfrm>
            <a:off x="687800" y="525000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 que um padrão de estilo de programação é importante?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7" title="144877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1825" y="2294450"/>
            <a:ext cx="3691350" cy="36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>
            <p:ph idx="4294967295" type="body"/>
          </p:nvPr>
        </p:nvSpPr>
        <p:spPr>
          <a:xfrm>
            <a:off x="466600" y="2090075"/>
            <a:ext cx="8120100" cy="410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Leitura e compreensão mais fácil do código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Facilita o trabalho em equipe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Aumenta a produtividade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Facilita manutenção e refatoração</a:t>
            </a:r>
            <a:b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AutoNum type="arabicPeriod"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Melhora a legibilidade em revisões e auditorias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4294967295" type="title"/>
          </p:nvPr>
        </p:nvSpPr>
        <p:spPr>
          <a:xfrm>
            <a:off x="687800" y="525000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Quais são alguns dos padrões de estilo de programação disponíveis?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8"/>
          <p:cNvSpPr txBox="1"/>
          <p:nvPr>
            <p:ph idx="4294967295" type="body"/>
          </p:nvPr>
        </p:nvSpPr>
        <p:spPr>
          <a:xfrm>
            <a:off x="2689900" y="2114450"/>
            <a:ext cx="8930700" cy="97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PSR-1</a:t>
            </a: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– Basic Coding Standard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PSR-12</a:t>
            </a: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– Extended Coding Style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p18" title="PHP-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00" y="2114450"/>
            <a:ext cx="1616751" cy="873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3875" y="3395750"/>
            <a:ext cx="1616738" cy="1616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idx="4294967295" type="body"/>
          </p:nvPr>
        </p:nvSpPr>
        <p:spPr>
          <a:xfrm>
            <a:off x="803000" y="3458800"/>
            <a:ext cx="8883000" cy="161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Airbnb JavaScript Style Guide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Google JavaScript Style Guide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StandardJS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 txBox="1"/>
          <p:nvPr>
            <p:ph idx="4294967295" type="body"/>
          </p:nvPr>
        </p:nvSpPr>
        <p:spPr>
          <a:xfrm>
            <a:off x="2689900" y="5090325"/>
            <a:ext cx="8883000" cy="97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Google CSS Style Guide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BEM (Block, Element, Modifier)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18" title="logo-2582747_640-e159777125458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3700" y="4849550"/>
            <a:ext cx="1455350" cy="14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4294967295" type="title"/>
          </p:nvPr>
        </p:nvSpPr>
        <p:spPr>
          <a:xfrm>
            <a:off x="706225" y="2273700"/>
            <a:ext cx="10885200" cy="2310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44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Formatação</a:t>
            </a:r>
            <a:br>
              <a:rPr lang="pt-BR" sz="149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9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44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44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44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Regras semânticas/estruturais</a:t>
            </a:r>
            <a:endParaRPr b="1" sz="44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idx="4294967295" type="title"/>
          </p:nvPr>
        </p:nvSpPr>
        <p:spPr>
          <a:xfrm>
            <a:off x="687800" y="2819550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 padrão de estilo de programação devemos adotar?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4294967295" type="title"/>
          </p:nvPr>
        </p:nvSpPr>
        <p:spPr>
          <a:xfrm>
            <a:off x="2836100" y="525000"/>
            <a:ext cx="87966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PSR-1</a:t>
            </a:r>
            <a:endParaRPr sz="247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1"/>
          <p:cNvSpPr txBox="1"/>
          <p:nvPr>
            <p:ph idx="4294967295" type="body"/>
          </p:nvPr>
        </p:nvSpPr>
        <p:spPr>
          <a:xfrm>
            <a:off x="803000" y="1818975"/>
            <a:ext cx="10829700" cy="437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7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Regras semânticas/estruturais</a:t>
            </a:r>
            <a:endParaRPr b="1"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 arquivos DEVEM usar apenas </a:t>
            </a:r>
            <a:r>
              <a:rPr b="1"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&lt;?php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tags </a:t>
            </a:r>
            <a:r>
              <a:rPr b="1"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&lt;?=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 arquivos DEVEM usar somente UTF-8 sem BOM para código PHP.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 arquivos DEVEM declarar símbolos (classes, funções, constantes, etc.) ou causar efeitos colaterais (por exemplo, gerar saída, alterar configurações de arquivos .ini, etc.), mas NÃO DEVEM fazer ambos.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 namespaces e as classes DEVEM seguir um PSR de "autoloading"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[ PSR-0 , PSR-4 ].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 nomes das classes DEVEM ser declarados em StudlyCaps.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 constantes de classe DEVEM ser declaradas em letras maiúsculas e separadas por sublinhado.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 nomes dos métodos DEVEM ser declarados em camelCase.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1" title="PHP-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00" y="697925"/>
            <a:ext cx="1616751" cy="873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4294967295" type="title"/>
          </p:nvPr>
        </p:nvSpPr>
        <p:spPr>
          <a:xfrm>
            <a:off x="2836100" y="525000"/>
            <a:ext cx="87966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PSR-12</a:t>
            </a:r>
            <a:endParaRPr sz="247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p22" title="PHP-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00" y="697925"/>
            <a:ext cx="1616751" cy="87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>
            <p:ph idx="4294967295" type="body"/>
          </p:nvPr>
        </p:nvSpPr>
        <p:spPr>
          <a:xfrm>
            <a:off x="803000" y="1743900"/>
            <a:ext cx="10829700" cy="483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247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Regras semânticas/estruturais</a:t>
            </a:r>
            <a:endParaRPr b="1"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Uma declaração por linha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Ordem dos elementos dentro de uma classe: 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Traits (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use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);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Constantes; 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Propriedades; 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Métodos.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Visibilidade explícita (public, protected, private)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Posição obrigatória do </a:t>
            </a:r>
            <a:r>
              <a:rPr b="1"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declare(strict_types=1)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4294967295" type="body"/>
          </p:nvPr>
        </p:nvSpPr>
        <p:spPr>
          <a:xfrm>
            <a:off x="803000" y="1743900"/>
            <a:ext cx="10829700" cy="483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247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Regras semânticas/estruturais</a:t>
            </a:r>
            <a:endParaRPr b="1"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Usar 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const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let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— nunca var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Declarar variáveis uma por linha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Template strings para concatenação (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`Olá, ${nome}`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===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!==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lugar de 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==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!=</a:t>
            </a:r>
            <a:endParaRPr sz="2075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Arrow functions (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() =&gt; {}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 para funções curtas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Usar métodos de array (map, filter, reduce) em vez de loops tradicionais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Imports sempre no topo do arquivo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PascalCase para nomes de classe em PascalCase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camelCase para nomes de variáveis, funções e métodos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UPPER_CASE para nomes de constantes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3"/>
          <p:cNvSpPr txBox="1"/>
          <p:nvPr>
            <p:ph idx="4294967295" type="title"/>
          </p:nvPr>
        </p:nvSpPr>
        <p:spPr>
          <a:xfrm>
            <a:off x="2533363" y="525000"/>
            <a:ext cx="87966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Airbnb Style Guide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38" y="664988"/>
            <a:ext cx="938925" cy="9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4294967295" type="body"/>
          </p:nvPr>
        </p:nvSpPr>
        <p:spPr>
          <a:xfrm>
            <a:off x="803000" y="1743900"/>
            <a:ext cx="10829700" cy="483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247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Regras semânticas/estruturais</a:t>
            </a:r>
            <a:endParaRPr b="1"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Evitar seletores excessivamente específicos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Evitar IDs (#id) para estilização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Preferir classes a seletores de tag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Não depender da estrutura do DOM para estilização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Evitar seletores encadeados profundamente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Evitar sobrescritas frequentes (</a:t>
            </a:r>
            <a:r>
              <a:rPr lang="pt-BR" sz="2075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!important</a:t>
            </a: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Usar kebab-case para nomes de classes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Evitar abreviações obscuras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Nomes refletem função, não aparência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Evitar inline styles</a:t>
            </a:r>
            <a:endParaRPr sz="20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4"/>
          <p:cNvSpPr txBox="1"/>
          <p:nvPr>
            <p:ph idx="4294967295" type="title"/>
          </p:nvPr>
        </p:nvSpPr>
        <p:spPr>
          <a:xfrm>
            <a:off x="2776550" y="525000"/>
            <a:ext cx="87966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Google CSS Guide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4" title="logo-2582747_640-e159777125458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100" y="465888"/>
            <a:ext cx="1337125" cy="13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idx="4294967295" type="title"/>
          </p:nvPr>
        </p:nvSpPr>
        <p:spPr>
          <a:xfrm>
            <a:off x="653400" y="462975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É possível</a:t>
            </a:r>
            <a:r>
              <a:rPr b="1" lang="pt-BR" sz="4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automatizar?</a:t>
            </a:r>
            <a:endParaRPr b="1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5"/>
          <p:cNvSpPr txBox="1"/>
          <p:nvPr>
            <p:ph idx="4294967295" type="title"/>
          </p:nvPr>
        </p:nvSpPr>
        <p:spPr>
          <a:xfrm>
            <a:off x="706225" y="2273700"/>
            <a:ext cx="10885200" cy="2310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9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Formatação </a:t>
            </a:r>
            <a:endParaRPr b="1" sz="39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19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(possível automatizar)</a:t>
            </a:r>
            <a:br>
              <a:rPr lang="pt-BR" sz="98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89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9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39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9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Regras semânticas/estruturais</a:t>
            </a:r>
            <a:endParaRPr b="1" sz="39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652650" y="1975475"/>
            <a:ext cx="6565200" cy="235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/>
          <p:nvPr>
            <p:ph idx="4294967295" type="title"/>
          </p:nvPr>
        </p:nvSpPr>
        <p:spPr>
          <a:xfrm>
            <a:off x="687800" y="525000"/>
            <a:ext cx="110937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pt-BR" sz="40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Prettier + PHP CS Fixer + Blade Formatter</a:t>
            </a:r>
            <a:endParaRPr b="1" sz="40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6"/>
          <p:cNvSpPr txBox="1"/>
          <p:nvPr>
            <p:ph idx="4294967295" type="body"/>
          </p:nvPr>
        </p:nvSpPr>
        <p:spPr>
          <a:xfrm>
            <a:off x="687800" y="2090075"/>
            <a:ext cx="6565200" cy="224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npm install --save-dev prettier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composer require --dev friendsofphp/php-cs-fixer -W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600" y="1975475"/>
            <a:ext cx="4363000" cy="9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6"/>
          <p:cNvPicPr preferRelativeResize="0"/>
          <p:nvPr/>
        </p:nvPicPr>
        <p:blipFill rotWithShape="1">
          <a:blip r:embed="rId4">
            <a:alphaModFix/>
          </a:blip>
          <a:srcRect b="0" l="4598" r="0" t="0"/>
          <a:stretch/>
        </p:blipFill>
        <p:spPr>
          <a:xfrm>
            <a:off x="7418600" y="2924975"/>
            <a:ext cx="4362999" cy="89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8600" y="3823600"/>
            <a:ext cx="4363000" cy="97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650" y="4741700"/>
            <a:ext cx="1770600" cy="17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>
            <p:ph idx="4294967295" type="body"/>
          </p:nvPr>
        </p:nvSpPr>
        <p:spPr>
          <a:xfrm>
            <a:off x="2580000" y="4563550"/>
            <a:ext cx="3181500" cy="218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Arquivos necessários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.vscode</a:t>
            </a:r>
            <a:br>
              <a:rPr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↳ settings.json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.php-cs-fixer.php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.prettierrc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7923" y="5560100"/>
            <a:ext cx="1684949" cy="6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5209300" y="6112100"/>
            <a:ext cx="66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https://github.com/Rcm-Cabos-Eletricos/treinamentos/tree/master/padroes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idx="4294967295" type="title"/>
          </p:nvPr>
        </p:nvSpPr>
        <p:spPr>
          <a:xfrm>
            <a:off x="687800" y="525000"/>
            <a:ext cx="10885200" cy="12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40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 b="1" sz="403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7"/>
          <p:cNvSpPr txBox="1"/>
          <p:nvPr>
            <p:ph idx="4294967295" type="body"/>
          </p:nvPr>
        </p:nvSpPr>
        <p:spPr>
          <a:xfrm>
            <a:off x="803000" y="1743900"/>
            <a:ext cx="10829700" cy="483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975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https://www.php-fig.org/psr/</a:t>
            </a:r>
            <a:endParaRPr sz="29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9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975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https://github.com/airbnb/javascript</a:t>
            </a:r>
            <a:endParaRPr sz="29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9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 sz="2975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https://google.github.io/styleguide/htmlcssguide.html</a:t>
            </a:r>
            <a:endParaRPr sz="297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804" y="-549035"/>
            <a:ext cx="3250722" cy="325072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>
            <p:ph type="ctrTitle"/>
          </p:nvPr>
        </p:nvSpPr>
        <p:spPr>
          <a:xfrm>
            <a:off x="1423981" y="2098675"/>
            <a:ext cx="4796100" cy="26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b="1"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Fim!</a:t>
            </a:r>
            <a:endParaRPr/>
          </a:p>
        </p:txBody>
      </p:sp>
      <p:sp>
        <p:nvSpPr>
          <p:cNvPr id="203" name="Google Shape;203;p28"/>
          <p:cNvSpPr txBox="1"/>
          <p:nvPr>
            <p:ph idx="1" type="subTitle"/>
          </p:nvPr>
        </p:nvSpPr>
        <p:spPr>
          <a:xfrm>
            <a:off x="1371600" y="5791199"/>
            <a:ext cx="9144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b="0" i="0" lang="pt-BR" sz="2400" u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Rafael Cecchin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